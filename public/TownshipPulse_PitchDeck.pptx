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In massive townships like City of Elmina and Bandar Bukit Raja, fixing broken infrastructure is slow, manual, and messy. TownshipPulse takes a resident's photo on WhatsApp, groups duplicate complaints within 50 meters, checks storm forecasts, and drafts contractor dispatch orders in under 5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complaint apps fail for 3 simple reasons: First, 90% of residents delete standalone township apps. Second, when a pipe bursts, over 50 residents send the same text, wasting hours of staff time. Third, an unmonitored drain quickly escalates into RM 50,000 in road and property damage when Malaysian downpours hit.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TownshipPulse replaces 14 days of back-and-forth paperwork with 5 seconds of autonomous action: Residents report via WhatsApp or web with real camera and voice notes. Our spatial engine groups 50 duplicate reports into 1 master job. And standard Malaysian JKR rates price the job automatically, followed by AI verification when the contractor finishes.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4-step loop: A resident snaps a photo or records a voice note. AI verifies the issue and groups duplicates within 50 meters. The system checks live weather radar—escalating blocked drains to top emergency if a downpour is coming. Standard Malaysian JKR rates price the job, and when the contractor fixes it, AI audits the photo to close the ticket. Judges, please scan the QR code right now to test it live!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model is simple: scanning a photo costs less than 1 sen. Running the entire platform for 5,000 homes costs just RM 85 per month. In return, it saves over RM 5,000 every single month in staff triage time and prevented flood damage. It pays for itself within the first 48 hours of every month.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TownshipPulse directly supports Sime Darby Property's Bursa Malaysia ESG goals: Saving 1.2 million liters of clean water by fixing leaks in hours instead of days. Cutting 240 car inspection trips every month. And protecting Elmina and Bandar Bukit Raja from flash floods.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ready to deploy tomorrow. A phased 6-month roadmap starting with 1,000 homes in Elmina Valley, connecting directly to local maintenance teams, and scaling to Bandar Bukit Raja in Klang. With TownshipPulse, Sime Darby ensures its townships take care of themselves.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1188720"/>
            <a:ext cx="5120640" cy="411480"/>
          </a:xfrm>
          <a:prstGeom prst="roundRect">
            <a:avLst/>
          </a:prstGeom>
          <a:solidFill>
            <a:srgbClr val="12192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SIME DARBY PROPERTY HACKATHON 2026 — PEOPLE + PLANET</a:t>
            </a:r>
          </a:p>
        </p:txBody>
      </p:sp>
      <p:sp>
        <p:nvSpPr>
          <p:cNvPr id="4" name="TextBox 3"/>
          <p:cNvSpPr txBox="1"/>
          <p:nvPr/>
        </p:nvSpPr>
        <p:spPr>
          <a:xfrm>
            <a:off x="822960" y="1828800"/>
            <a:ext cx="10515600" cy="2011680"/>
          </a:xfrm>
          <a:prstGeom prst="rect">
            <a:avLst/>
          </a:prstGeom>
          <a:noFill/>
        </p:spPr>
        <p:txBody>
          <a:bodyPr wrap="square" lIns="0" tIns="0">
            <a:spAutoFit/>
          </a:bodyPr>
          <a:lstStyle/>
          <a:p>
            <a:pPr>
              <a:spcAft>
                <a:spcPts val="800"/>
              </a:spcAft>
              <a:defRPr sz="5600" b="1">
                <a:solidFill>
                  <a:srgbClr val="FFFFFF"/>
                </a:solidFill>
              </a:defRPr>
            </a:pPr>
            <a:r>
              <a:t>TownshipPulse</a:t>
            </a:r>
          </a:p>
          <a:p>
            <a:pPr>
              <a:spcAft>
                <a:spcPts val="800"/>
              </a:spcAft>
              <a:defRPr sz="2200">
                <a:solidFill>
                  <a:srgbClr val="38BDF8"/>
                </a:solidFill>
              </a:defRPr>
            </a:pPr>
            <a:r>
              <a:t>The Smart Assistant that Fixes Township Problems in 5 Seconds</a:t>
            </a:r>
          </a:p>
          <a:p>
            <a:pPr>
              <a:defRPr sz="1300">
                <a:solidFill>
                  <a:srgbClr val="94A3B8"/>
                </a:solidFill>
              </a:defRPr>
            </a:pPr>
            <a:r>
              <a:t>Piloted for City of Elmina (5,000 Acres) &amp; Bandar Bukit Raja (4,333 Acres) | Ghulam Mustafa &amp; Team</a:t>
            </a:r>
          </a:p>
        </p:txBody>
      </p:sp>
      <p:sp>
        <p:nvSpPr>
          <p:cNvPr id="5" name="Rounded Rectangle 4"/>
          <p:cNvSpPr/>
          <p:nvPr/>
        </p:nvSpPr>
        <p:spPr>
          <a:xfrm>
            <a:off x="822960" y="4389120"/>
            <a:ext cx="3291840" cy="155448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228600" lIns="228600"/>
          <a:lstStyle/>
          <a:p>
            <a:pPr algn="ctr">
              <a:spcAft>
                <a:spcPts val="400"/>
              </a:spcAft>
              <a:defRPr sz="2200" b="1">
                <a:solidFill>
                  <a:srgbClr val="38BDF8"/>
                </a:solidFill>
              </a:defRPr>
            </a:pPr>
            <a:r>
              <a:t>0 Downloads</a:t>
            </a:r>
          </a:p>
          <a:p>
            <a:pPr>
              <a:defRPr sz="1200">
                <a:solidFill>
                  <a:srgbClr val="94A3B8"/>
                </a:solidFill>
              </a:defRPr>
            </a:pPr>
            <a:r>
              <a:t>WhatsApp &amp; Web Ingestion</a:t>
            </a:r>
          </a:p>
        </p:txBody>
      </p:sp>
      <p:sp>
        <p:nvSpPr>
          <p:cNvPr id="6" name="Rounded Rectangle 5"/>
          <p:cNvSpPr/>
          <p:nvPr/>
        </p:nvSpPr>
        <p:spPr>
          <a:xfrm>
            <a:off x="4389120" y="4389120"/>
            <a:ext cx="3291840" cy="155448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228600" lIns="228600"/>
          <a:lstStyle/>
          <a:p>
            <a:pPr algn="ctr">
              <a:spcAft>
                <a:spcPts val="400"/>
              </a:spcAft>
              <a:defRPr sz="2200" b="1">
                <a:solidFill>
                  <a:srgbClr val="10B981"/>
                </a:solidFill>
              </a:defRPr>
            </a:pPr>
            <a:r>
              <a:t>50m Grouping</a:t>
            </a:r>
          </a:p>
          <a:p>
            <a:pPr>
              <a:defRPr sz="1200">
                <a:solidFill>
                  <a:srgbClr val="94A3B8"/>
                </a:solidFill>
              </a:defRPr>
            </a:pPr>
            <a:r>
              <a:t>Eliminates Duplicate Tickets</a:t>
            </a:r>
          </a:p>
        </p:txBody>
      </p:sp>
      <p:sp>
        <p:nvSpPr>
          <p:cNvPr id="7" name="Rounded Rectangle 6"/>
          <p:cNvSpPr/>
          <p:nvPr/>
        </p:nvSpPr>
        <p:spPr>
          <a:xfrm>
            <a:off x="7955279" y="4389120"/>
            <a:ext cx="3291840" cy="155448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228600" lIns="228600"/>
          <a:lstStyle/>
          <a:p>
            <a:pPr algn="ctr">
              <a:spcAft>
                <a:spcPts val="400"/>
              </a:spcAft>
              <a:defRPr sz="2200" b="1">
                <a:solidFill>
                  <a:srgbClr val="F59E0B"/>
                </a:solidFill>
              </a:defRPr>
            </a:pPr>
            <a:r>
              <a:t>&lt; 5s Dispatch</a:t>
            </a:r>
          </a:p>
          <a:p>
            <a:pPr>
              <a:defRPr sz="1200">
                <a:solidFill>
                  <a:srgbClr val="94A3B8"/>
                </a:solidFill>
              </a:defRPr>
            </a:pPr>
            <a:r>
              <a:t>Auto-priced in Malaysian Ringgit</a:t>
            </a:r>
          </a:p>
        </p:txBody>
      </p:sp>
      <p:sp>
        <p:nvSpPr>
          <p:cNvPr id="8" name="TextBox 7"/>
          <p:cNvSpPr txBox="1"/>
          <p:nvPr/>
        </p:nvSpPr>
        <p:spPr>
          <a:xfrm>
            <a:off x="822960" y="6309360"/>
            <a:ext cx="10515600" cy="365760"/>
          </a:xfrm>
          <a:prstGeom prst="rect">
            <a:avLst/>
          </a:prstGeom>
          <a:noFill/>
        </p:spPr>
        <p:txBody>
          <a:bodyPr wrap="square" lIns="0" tIns="0">
            <a:spAutoFit/>
          </a:bodyPr>
          <a:lstStyle/>
          <a:p>
            <a:pPr>
              <a:defRPr sz="1000">
                <a:solidFill>
                  <a:srgbClr val="94A3B8"/>
                </a:solidFill>
              </a:defRPr>
            </a:pPr>
            <a:r>
              <a:t>TownshipPulse | Sime Darby Property University Hackathon 2026               Slide 1 of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515600" cy="1097280"/>
          </a:xfrm>
          <a:prstGeom prst="rect">
            <a:avLst/>
          </a:prstGeom>
          <a:noFill/>
        </p:spPr>
        <p:txBody>
          <a:bodyPr wrap="square" lIns="0" tIns="0" rIns="0" bIns="0">
            <a:spAutoFit/>
          </a:bodyPr>
          <a:lstStyle/>
          <a:p>
            <a:pPr>
              <a:spcAft>
                <a:spcPts val="400"/>
              </a:spcAft>
              <a:defRPr sz="1100" b="1">
                <a:solidFill>
                  <a:srgbClr val="10B981"/>
                </a:solidFill>
              </a:defRPr>
            </a:pPr>
            <a:r>
              <a:t>THE REAL-WORLD BOTTLENECK</a:t>
            </a:r>
          </a:p>
          <a:p>
            <a:pPr>
              <a:defRPr sz="3200" b="1">
                <a:solidFill>
                  <a:srgbClr val="FFFFFF"/>
                </a:solidFill>
              </a:defRPr>
            </a:pPr>
            <a:r>
              <a:t>The Hidden RM 500,000 Township Drain</a:t>
            </a:r>
          </a:p>
        </p:txBody>
      </p:sp>
      <p:sp>
        <p:nvSpPr>
          <p:cNvPr id="4" name="Rounded Rectangle 3"/>
          <p:cNvSpPr/>
          <p:nvPr/>
        </p:nvSpPr>
        <p:spPr>
          <a:xfrm>
            <a:off x="822960" y="2011680"/>
            <a:ext cx="3291840" cy="39319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320040" lIns="274320" rIns="274320"/>
          <a:lstStyle/>
          <a:p>
            <a:pPr algn="ctr">
              <a:spcAft>
                <a:spcPts val="800"/>
              </a:spcAft>
              <a:defRPr sz="4800" b="1">
                <a:solidFill>
                  <a:srgbClr val="EF4444"/>
                </a:solidFill>
              </a:defRPr>
            </a:pPr>
            <a:r>
              <a:t>90%</a:t>
            </a:r>
          </a:p>
          <a:p>
            <a:pPr>
              <a:spcAft>
                <a:spcPts val="1400"/>
              </a:spcAft>
              <a:defRPr sz="1800" b="1">
                <a:solidFill>
                  <a:srgbClr val="FFFFFF"/>
                </a:solidFill>
              </a:defRPr>
            </a:pPr>
            <a:r>
              <a:t>App Abandonment</a:t>
            </a:r>
          </a:p>
          <a:p>
            <a:pPr>
              <a:defRPr sz="1300">
                <a:solidFill>
                  <a:srgbClr val="94A3B8"/>
                </a:solidFill>
              </a:defRPr>
            </a:pPr>
            <a:r>
              <a:t>Residents refuse to download a 100MB app to report a pothole once a year.</a:t>
            </a:r>
          </a:p>
        </p:txBody>
      </p:sp>
      <p:sp>
        <p:nvSpPr>
          <p:cNvPr id="5" name="Rounded Rectangle 4"/>
          <p:cNvSpPr/>
          <p:nvPr/>
        </p:nvSpPr>
        <p:spPr>
          <a:xfrm>
            <a:off x="4389120" y="2011680"/>
            <a:ext cx="3291840" cy="39319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320040" lIns="274320" rIns="274320"/>
          <a:lstStyle/>
          <a:p>
            <a:pPr algn="ctr">
              <a:spcAft>
                <a:spcPts val="800"/>
              </a:spcAft>
              <a:defRPr sz="4800" b="1">
                <a:solidFill>
                  <a:srgbClr val="F59E0B"/>
                </a:solidFill>
              </a:defRPr>
            </a:pPr>
            <a:r>
              <a:t>50+</a:t>
            </a:r>
          </a:p>
          <a:p>
            <a:pPr>
              <a:spcAft>
                <a:spcPts val="1400"/>
              </a:spcAft>
              <a:defRPr sz="1800" b="1">
                <a:solidFill>
                  <a:srgbClr val="FFFFFF"/>
                </a:solidFill>
              </a:defRPr>
            </a:pPr>
            <a:r>
              <a:t>Duplicates per Issue</a:t>
            </a:r>
          </a:p>
          <a:p>
            <a:pPr>
              <a:defRPr sz="1300">
                <a:solidFill>
                  <a:srgbClr val="94A3B8"/>
                </a:solidFill>
              </a:defRPr>
            </a:pPr>
            <a:r>
              <a:t>Office staff spend 4 hours a day reading the exact same complaint.</a:t>
            </a:r>
          </a:p>
        </p:txBody>
      </p:sp>
      <p:sp>
        <p:nvSpPr>
          <p:cNvPr id="6" name="Rounded Rectangle 5"/>
          <p:cNvSpPr/>
          <p:nvPr/>
        </p:nvSpPr>
        <p:spPr>
          <a:xfrm>
            <a:off x="7955279" y="2011680"/>
            <a:ext cx="3291840" cy="39319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320040" lIns="274320" rIns="274320"/>
          <a:lstStyle/>
          <a:p>
            <a:pPr algn="ctr">
              <a:spcAft>
                <a:spcPts val="800"/>
              </a:spcAft>
              <a:defRPr sz="4800" b="1">
                <a:solidFill>
                  <a:srgbClr val="EF4444"/>
                </a:solidFill>
              </a:defRPr>
            </a:pPr>
            <a:r>
              <a:t>RM 50k</a:t>
            </a:r>
          </a:p>
          <a:p>
            <a:pPr>
              <a:spcAft>
                <a:spcPts val="1400"/>
              </a:spcAft>
              <a:defRPr sz="1800" b="1">
                <a:solidFill>
                  <a:srgbClr val="FFFFFF"/>
                </a:solidFill>
              </a:defRPr>
            </a:pPr>
            <a:r>
              <a:t>Monsoon Floods</a:t>
            </a:r>
          </a:p>
          <a:p>
            <a:pPr>
              <a:defRPr sz="1300">
                <a:solidFill>
                  <a:srgbClr val="94A3B8"/>
                </a:solidFill>
              </a:defRPr>
            </a:pPr>
            <a:r>
              <a:t>A blocked drain ignored for 2 days turns into a flash flood or road collapse.</a:t>
            </a:r>
          </a:p>
        </p:txBody>
      </p:sp>
      <p:sp>
        <p:nvSpPr>
          <p:cNvPr id="7" name="TextBox 6"/>
          <p:cNvSpPr txBox="1"/>
          <p:nvPr/>
        </p:nvSpPr>
        <p:spPr>
          <a:xfrm>
            <a:off x="822960" y="6309360"/>
            <a:ext cx="10515600" cy="365760"/>
          </a:xfrm>
          <a:prstGeom prst="rect">
            <a:avLst/>
          </a:prstGeom>
          <a:noFill/>
        </p:spPr>
        <p:txBody>
          <a:bodyPr wrap="square" lIns="0" tIns="0">
            <a:spAutoFit/>
          </a:bodyPr>
          <a:lstStyle/>
          <a:p>
            <a:pPr>
              <a:defRPr sz="1000">
                <a:solidFill>
                  <a:srgbClr val="94A3B8"/>
                </a:solidFill>
              </a:defRPr>
            </a:pPr>
            <a:r>
              <a:t>TownshipPulse | Sime Darby Property University Hackathon 2026               Slide 2 of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515600" cy="1097280"/>
          </a:xfrm>
          <a:prstGeom prst="rect">
            <a:avLst/>
          </a:prstGeom>
          <a:noFill/>
        </p:spPr>
        <p:txBody>
          <a:bodyPr wrap="square" lIns="0" tIns="0" rIns="0" bIns="0">
            <a:spAutoFit/>
          </a:bodyPr>
          <a:lstStyle/>
          <a:p>
            <a:pPr>
              <a:spcAft>
                <a:spcPts val="400"/>
              </a:spcAft>
              <a:defRPr sz="1100" b="1">
                <a:solidFill>
                  <a:srgbClr val="10B981"/>
                </a:solidFill>
              </a:defRPr>
            </a:pPr>
            <a:r>
              <a:t>THE SOLUTION — TOWNSHIPPULSE</a:t>
            </a:r>
          </a:p>
          <a:p>
            <a:pPr>
              <a:defRPr sz="3200" b="1">
                <a:solidFill>
                  <a:srgbClr val="FFFFFF"/>
                </a:solidFill>
              </a:defRPr>
            </a:pPr>
            <a:r>
              <a:t>From 14 Days to Under 5 Seconds</a:t>
            </a:r>
          </a:p>
        </p:txBody>
      </p:sp>
      <p:sp>
        <p:nvSpPr>
          <p:cNvPr id="4" name="Rounded Rectangle 3"/>
          <p:cNvSpPr/>
          <p:nvPr/>
        </p:nvSpPr>
        <p:spPr>
          <a:xfrm>
            <a:off x="822960" y="2011680"/>
            <a:ext cx="10515600" cy="114300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182880" lIns="274320"/>
          <a:lstStyle/>
          <a:p>
            <a:pPr algn="ctr">
              <a:spcAft>
                <a:spcPts val="400"/>
              </a:spcAft>
              <a:defRPr sz="1700" b="1">
                <a:solidFill>
                  <a:srgbClr val="38BDF8"/>
                </a:solidFill>
              </a:defRPr>
            </a:pPr>
            <a:r>
              <a:t>TownshipPulse: Instant WhatsApp / Web Ingestion   (vs Old Way: 100MB App Download)</a:t>
            </a:r>
          </a:p>
          <a:p>
            <a:pPr>
              <a:defRPr sz="1300">
                <a:solidFill>
                  <a:srgbClr val="94A3B8"/>
                </a:solidFill>
              </a:defRPr>
            </a:pPr>
            <a:r>
              <a:t>Zero friction. Real phone camera + Malay/English voice notes.</a:t>
            </a:r>
          </a:p>
        </p:txBody>
      </p:sp>
      <p:sp>
        <p:nvSpPr>
          <p:cNvPr id="5" name="Rounded Rectangle 4"/>
          <p:cNvSpPr/>
          <p:nvPr/>
        </p:nvSpPr>
        <p:spPr>
          <a:xfrm>
            <a:off x="822960" y="3337560"/>
            <a:ext cx="10515600" cy="114300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182880" lIns="274320"/>
          <a:lstStyle/>
          <a:p>
            <a:pPr algn="ctr">
              <a:spcAft>
                <a:spcPts val="400"/>
              </a:spcAft>
              <a:defRPr sz="1700" b="1">
                <a:solidFill>
                  <a:srgbClr val="10B981"/>
                </a:solidFill>
              </a:defRPr>
            </a:pPr>
            <a:r>
              <a:t>TownshipPulse: 1 Master Job (50m Radius)   (vs Old Way: 50 Duplicate Tickets)</a:t>
            </a:r>
          </a:p>
          <a:p>
            <a:pPr>
              <a:defRPr sz="1300">
                <a:solidFill>
                  <a:srgbClr val="94A3B8"/>
                </a:solidFill>
              </a:defRPr>
            </a:pPr>
            <a:r>
              <a:t>AI clusters all nearby reports into one single action.</a:t>
            </a:r>
          </a:p>
        </p:txBody>
      </p:sp>
      <p:sp>
        <p:nvSpPr>
          <p:cNvPr id="6" name="Rounded Rectangle 5"/>
          <p:cNvSpPr/>
          <p:nvPr/>
        </p:nvSpPr>
        <p:spPr>
          <a:xfrm>
            <a:off x="822960" y="4663440"/>
            <a:ext cx="10515600" cy="114300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182880" lIns="274320"/>
          <a:lstStyle/>
          <a:p>
            <a:pPr algn="ctr">
              <a:spcAft>
                <a:spcPts val="400"/>
              </a:spcAft>
              <a:defRPr sz="1700" b="1">
                <a:solidFill>
                  <a:srgbClr val="F59E0B"/>
                </a:solidFill>
              </a:defRPr>
            </a:pPr>
            <a:r>
              <a:t>TownshipPulse: Instant JKR Cost &amp; Contractor Verification   (vs Old Way: Manual Drive-Out &amp; Quoting)</a:t>
            </a:r>
          </a:p>
          <a:p>
            <a:pPr>
              <a:defRPr sz="1300">
                <a:solidFill>
                  <a:srgbClr val="94A3B8"/>
                </a:solidFill>
              </a:defRPr>
            </a:pPr>
            <a:r>
              <a:t>Auto-prices repair in RM and verifies fixed photo with AI.</a:t>
            </a:r>
          </a:p>
        </p:txBody>
      </p:sp>
      <p:sp>
        <p:nvSpPr>
          <p:cNvPr id="7" name="TextBox 6"/>
          <p:cNvSpPr txBox="1"/>
          <p:nvPr/>
        </p:nvSpPr>
        <p:spPr>
          <a:xfrm>
            <a:off x="822960" y="6309360"/>
            <a:ext cx="10515600" cy="365760"/>
          </a:xfrm>
          <a:prstGeom prst="rect">
            <a:avLst/>
          </a:prstGeom>
          <a:noFill/>
        </p:spPr>
        <p:txBody>
          <a:bodyPr wrap="square" lIns="0" tIns="0">
            <a:spAutoFit/>
          </a:bodyPr>
          <a:lstStyle/>
          <a:p>
            <a:pPr>
              <a:defRPr sz="1000">
                <a:solidFill>
                  <a:srgbClr val="94A3B8"/>
                </a:solidFill>
              </a:defRPr>
            </a:pPr>
            <a:r>
              <a:t>TownshipPulse | Sime Darby Property University Hackathon 2026               Slide 3 of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515600" cy="1097280"/>
          </a:xfrm>
          <a:prstGeom prst="rect">
            <a:avLst/>
          </a:prstGeom>
          <a:noFill/>
        </p:spPr>
        <p:txBody>
          <a:bodyPr wrap="square" lIns="0" tIns="0" rIns="0" bIns="0">
            <a:spAutoFit/>
          </a:bodyPr>
          <a:lstStyle/>
          <a:p>
            <a:pPr>
              <a:spcAft>
                <a:spcPts val="400"/>
              </a:spcAft>
              <a:defRPr sz="1100" b="1">
                <a:solidFill>
                  <a:srgbClr val="10B981"/>
                </a:solidFill>
              </a:defRPr>
            </a:pPr>
            <a:r>
              <a:t>SYSTEM WORKFLOW &amp; LIVE DEMO</a:t>
            </a:r>
          </a:p>
          <a:p>
            <a:pPr>
              <a:defRPr sz="3200" b="1">
                <a:solidFill>
                  <a:srgbClr val="FFFFFF"/>
                </a:solidFill>
              </a:defRPr>
            </a:pPr>
            <a:r>
              <a:t>4 Steps from Resident Photo to Verified Resolution</a:t>
            </a:r>
          </a:p>
        </p:txBody>
      </p:sp>
      <p:sp>
        <p:nvSpPr>
          <p:cNvPr id="4" name="Rounded Rectangle 3"/>
          <p:cNvSpPr/>
          <p:nvPr/>
        </p:nvSpPr>
        <p:spPr>
          <a:xfrm>
            <a:off x="822960" y="2011680"/>
            <a:ext cx="2423160" cy="39319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274320" lIns="182880" rIns="182880"/>
          <a:lstStyle/>
          <a:p>
            <a:pPr algn="ctr">
              <a:spcAft>
                <a:spcPts val="800"/>
              </a:spcAft>
              <a:defRPr sz="3600" b="1">
                <a:solidFill>
                  <a:srgbClr val="38BDF8"/>
                </a:solidFill>
              </a:defRPr>
            </a:pPr>
            <a:r>
              <a:t>01</a:t>
            </a:r>
          </a:p>
          <a:p>
            <a:pPr>
              <a:spcAft>
                <a:spcPts val="1000"/>
              </a:spcAft>
              <a:defRPr sz="1500" b="1">
                <a:solidFill>
                  <a:srgbClr val="FFFFFF"/>
                </a:solidFill>
              </a:defRPr>
            </a:pPr>
            <a:r>
              <a:t>1. Resident Snaps</a:t>
            </a:r>
          </a:p>
          <a:p>
            <a:pPr>
              <a:defRPr sz="1200">
                <a:solidFill>
                  <a:srgbClr val="94A3B8"/>
                </a:solidFill>
              </a:defRPr>
            </a:pPr>
            <a:r>
              <a:t>WhatsApp / Web with Camera &amp; Voice</a:t>
            </a:r>
          </a:p>
        </p:txBody>
      </p:sp>
      <p:sp>
        <p:nvSpPr>
          <p:cNvPr id="5" name="Rounded Rectangle 4"/>
          <p:cNvSpPr/>
          <p:nvPr/>
        </p:nvSpPr>
        <p:spPr>
          <a:xfrm>
            <a:off x="3429000" y="2011680"/>
            <a:ext cx="2423160" cy="39319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274320" lIns="182880" rIns="182880"/>
          <a:lstStyle/>
          <a:p>
            <a:pPr algn="ctr">
              <a:spcAft>
                <a:spcPts val="800"/>
              </a:spcAft>
              <a:defRPr sz="3600" b="1">
                <a:solidFill>
                  <a:srgbClr val="10B981"/>
                </a:solidFill>
              </a:defRPr>
            </a:pPr>
            <a:r>
              <a:t>02</a:t>
            </a:r>
          </a:p>
          <a:p>
            <a:pPr>
              <a:spcAft>
                <a:spcPts val="1000"/>
              </a:spcAft>
              <a:defRPr sz="1500" b="1">
                <a:solidFill>
                  <a:srgbClr val="FFFFFF"/>
                </a:solidFill>
              </a:defRPr>
            </a:pPr>
            <a:r>
              <a:t>2. AI Photo Scan</a:t>
            </a:r>
          </a:p>
          <a:p>
            <a:pPr>
              <a:defRPr sz="1200">
                <a:solidFill>
                  <a:srgbClr val="94A3B8"/>
                </a:solidFill>
              </a:defRPr>
            </a:pPr>
            <a:r>
              <a:t>Validates defect &amp; groups duplicates within 50m</a:t>
            </a:r>
          </a:p>
        </p:txBody>
      </p:sp>
      <p:sp>
        <p:nvSpPr>
          <p:cNvPr id="6" name="Rounded Rectangle 5"/>
          <p:cNvSpPr/>
          <p:nvPr/>
        </p:nvSpPr>
        <p:spPr>
          <a:xfrm>
            <a:off x="6035040" y="2011680"/>
            <a:ext cx="2423160" cy="39319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274320" lIns="182880" rIns="182880"/>
          <a:lstStyle/>
          <a:p>
            <a:pPr algn="ctr">
              <a:spcAft>
                <a:spcPts val="800"/>
              </a:spcAft>
              <a:defRPr sz="3600" b="1">
                <a:solidFill>
                  <a:srgbClr val="38BDF8"/>
                </a:solidFill>
              </a:defRPr>
            </a:pPr>
            <a:r>
              <a:t>03</a:t>
            </a:r>
          </a:p>
          <a:p>
            <a:pPr>
              <a:spcAft>
                <a:spcPts val="1000"/>
              </a:spcAft>
              <a:defRPr sz="1500" b="1">
                <a:solidFill>
                  <a:srgbClr val="FFFFFF"/>
                </a:solidFill>
              </a:defRPr>
            </a:pPr>
            <a:r>
              <a:t>3. Storm Radar Check</a:t>
            </a:r>
          </a:p>
          <a:p>
            <a:pPr>
              <a:defRPr sz="1200">
                <a:solidFill>
                  <a:srgbClr val="94A3B8"/>
                </a:solidFill>
              </a:defRPr>
            </a:pPr>
            <a:r>
              <a:t>&gt; 30mm/h rain escalates to Emergency</a:t>
            </a:r>
          </a:p>
        </p:txBody>
      </p:sp>
      <p:sp>
        <p:nvSpPr>
          <p:cNvPr id="7" name="Rounded Rectangle 6"/>
          <p:cNvSpPr/>
          <p:nvPr/>
        </p:nvSpPr>
        <p:spPr>
          <a:xfrm>
            <a:off x="8641080" y="2011680"/>
            <a:ext cx="2423160" cy="39319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274320" lIns="182880" rIns="182880"/>
          <a:lstStyle/>
          <a:p>
            <a:pPr algn="ctr">
              <a:spcAft>
                <a:spcPts val="800"/>
              </a:spcAft>
              <a:defRPr sz="3600" b="1">
                <a:solidFill>
                  <a:srgbClr val="10B981"/>
                </a:solidFill>
              </a:defRPr>
            </a:pPr>
            <a:r>
              <a:t>04</a:t>
            </a:r>
          </a:p>
          <a:p>
            <a:pPr>
              <a:spcAft>
                <a:spcPts val="1000"/>
              </a:spcAft>
              <a:defRPr sz="1500" b="1">
                <a:solidFill>
                  <a:srgbClr val="FFFFFF"/>
                </a:solidFill>
              </a:defRPr>
            </a:pPr>
            <a:r>
              <a:t>4. JKR Cost &amp; AI Audit</a:t>
            </a:r>
          </a:p>
          <a:p>
            <a:pPr>
              <a:defRPr sz="1200">
                <a:solidFill>
                  <a:srgbClr val="94A3B8"/>
                </a:solidFill>
              </a:defRPr>
            </a:pPr>
            <a:r>
              <a:t>Auto-priced work order + Before/After proof</a:t>
            </a:r>
          </a:p>
        </p:txBody>
      </p:sp>
      <p:sp>
        <p:nvSpPr>
          <p:cNvPr id="8" name="TextBox 7"/>
          <p:cNvSpPr txBox="1"/>
          <p:nvPr/>
        </p:nvSpPr>
        <p:spPr>
          <a:xfrm>
            <a:off x="822960" y="6309360"/>
            <a:ext cx="10515600" cy="365760"/>
          </a:xfrm>
          <a:prstGeom prst="rect">
            <a:avLst/>
          </a:prstGeom>
          <a:noFill/>
        </p:spPr>
        <p:txBody>
          <a:bodyPr wrap="square" lIns="0" tIns="0">
            <a:spAutoFit/>
          </a:bodyPr>
          <a:lstStyle/>
          <a:p>
            <a:pPr>
              <a:defRPr sz="1000">
                <a:solidFill>
                  <a:srgbClr val="94A3B8"/>
                </a:solidFill>
              </a:defRPr>
            </a:pPr>
            <a:r>
              <a:t>TownshipPulse | Sime Darby Property University Hackathon 2026               Slide 4 of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515600" cy="1097280"/>
          </a:xfrm>
          <a:prstGeom prst="rect">
            <a:avLst/>
          </a:prstGeom>
          <a:noFill/>
        </p:spPr>
        <p:txBody>
          <a:bodyPr wrap="square" lIns="0" tIns="0" rIns="0" bIns="0">
            <a:spAutoFit/>
          </a:bodyPr>
          <a:lstStyle/>
          <a:p>
            <a:pPr>
              <a:spcAft>
                <a:spcPts val="400"/>
              </a:spcAft>
              <a:defRPr sz="1100" b="1">
                <a:solidFill>
                  <a:srgbClr val="10B981"/>
                </a:solidFill>
              </a:defRPr>
            </a:pPr>
            <a:r>
              <a:t>UNIT ECONOMICS &amp; COMMERCIAL VIABILITY</a:t>
            </a:r>
          </a:p>
          <a:p>
            <a:pPr>
              <a:defRPr sz="3200" b="1">
                <a:solidFill>
                  <a:srgbClr val="FFFFFF"/>
                </a:solidFill>
              </a:defRPr>
            </a:pPr>
            <a:r>
              <a:t>RM 85 Cost. Over RM 5,000 Net Monthly Savings.</a:t>
            </a:r>
          </a:p>
        </p:txBody>
      </p:sp>
      <p:sp>
        <p:nvSpPr>
          <p:cNvPr id="4" name="Rounded Rectangle 3"/>
          <p:cNvSpPr/>
          <p:nvPr/>
        </p:nvSpPr>
        <p:spPr>
          <a:xfrm>
            <a:off x="822960" y="2011680"/>
            <a:ext cx="5029200" cy="39319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320040" lIns="365760"/>
          <a:lstStyle/>
          <a:p>
            <a:pPr algn="ctr">
              <a:spcAft>
                <a:spcPts val="400"/>
              </a:spcAft>
              <a:defRPr sz="4400" b="1">
                <a:solidFill>
                  <a:srgbClr val="38BDF8"/>
                </a:solidFill>
              </a:defRPr>
            </a:pPr>
            <a:r>
              <a:t>RM 85 / Month</a:t>
            </a:r>
          </a:p>
          <a:p>
            <a:pPr>
              <a:spcAft>
                <a:spcPts val="1600"/>
              </a:spcAft>
              <a:defRPr sz="1600" b="1">
                <a:solidFill>
                  <a:srgbClr val="FFFFFF"/>
                </a:solidFill>
              </a:defRPr>
            </a:pPr>
            <a:r>
              <a:t>Total Running Cost (5,000 Homes)</a:t>
            </a:r>
          </a:p>
          <a:p>
            <a:pPr>
              <a:spcAft>
                <a:spcPts val="600"/>
              </a:spcAft>
              <a:defRPr sz="1300">
                <a:solidFill>
                  <a:srgbClr val="94A3B8"/>
                </a:solidFill>
              </a:defRPr>
            </a:pPr>
            <a:r>
              <a:t>• AI Vision: &lt; 1 sen per report (~RM 7/mo)</a:t>
            </a:r>
          </a:p>
          <a:p>
            <a:pPr>
              <a:spcAft>
                <a:spcPts val="600"/>
              </a:spcAft>
              <a:defRPr sz="1300">
                <a:solidFill>
                  <a:srgbClr val="94A3B8"/>
                </a:solidFill>
              </a:defRPr>
            </a:pPr>
            <a:r>
              <a:t>• Open Maps &amp; Weather Radar: RM 0.00</a:t>
            </a:r>
          </a:p>
          <a:p>
            <a:pPr>
              <a:spcAft>
                <a:spcPts val="600"/>
              </a:spcAft>
              <a:defRPr sz="1300">
                <a:solidFill>
                  <a:srgbClr val="94A3B8"/>
                </a:solidFill>
              </a:defRPr>
            </a:pPr>
            <a:r>
              <a:t>• Cloud Server: ~RM 70/mo</a:t>
            </a:r>
          </a:p>
          <a:p>
            <a:pPr>
              <a:spcAft>
                <a:spcPts val="600"/>
              </a:spcAft>
              <a:defRPr sz="1300">
                <a:solidFill>
                  <a:srgbClr val="94A3B8"/>
                </a:solidFill>
              </a:defRPr>
            </a:pPr>
            <a:r>
              <a:t>• WhatsApp Messages: Free tier (1,000/mo)</a:t>
            </a:r>
          </a:p>
        </p:txBody>
      </p:sp>
      <p:sp>
        <p:nvSpPr>
          <p:cNvPr id="5" name="Rounded Rectangle 4"/>
          <p:cNvSpPr/>
          <p:nvPr/>
        </p:nvSpPr>
        <p:spPr>
          <a:xfrm>
            <a:off x="6217920" y="2011680"/>
            <a:ext cx="5120640" cy="39319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320040" lIns="365760"/>
          <a:lstStyle/>
          <a:p>
            <a:pPr algn="ctr">
              <a:spcAft>
                <a:spcPts val="400"/>
              </a:spcAft>
              <a:defRPr sz="4400" b="1">
                <a:solidFill>
                  <a:srgbClr val="10B981"/>
                </a:solidFill>
              </a:defRPr>
            </a:pPr>
            <a:r>
              <a:t>&gt; RM 5,000 / Mo</a:t>
            </a:r>
          </a:p>
          <a:p>
            <a:pPr>
              <a:spcAft>
                <a:spcPts val="1600"/>
              </a:spcAft>
              <a:defRPr sz="1600" b="1">
                <a:solidFill>
                  <a:srgbClr val="FFFFFF"/>
                </a:solidFill>
              </a:defRPr>
            </a:pPr>
            <a:r>
              <a:t>Net Monthly Operational Savings</a:t>
            </a:r>
          </a:p>
          <a:p>
            <a:pPr>
              <a:spcAft>
                <a:spcPts val="600"/>
              </a:spcAft>
              <a:defRPr sz="1300">
                <a:solidFill>
                  <a:srgbClr val="94A3B8"/>
                </a:solidFill>
              </a:defRPr>
            </a:pPr>
            <a:r>
              <a:t>• 75% Less Office Work (~RM 4,000 saved/mo)</a:t>
            </a:r>
          </a:p>
          <a:p>
            <a:pPr>
              <a:spcAft>
                <a:spcPts val="600"/>
              </a:spcAft>
              <a:defRPr sz="1300">
                <a:solidFill>
                  <a:srgbClr val="94A3B8"/>
                </a:solidFill>
              </a:defRPr>
            </a:pPr>
            <a:r>
              <a:t>• Zero False Contractor Callouts (RM 150/trip)</a:t>
            </a:r>
          </a:p>
          <a:p>
            <a:pPr>
              <a:spcAft>
                <a:spcPts val="600"/>
              </a:spcAft>
              <a:defRPr sz="1300">
                <a:solidFill>
                  <a:srgbClr val="94A3B8"/>
                </a:solidFill>
              </a:defRPr>
            </a:pPr>
            <a:r>
              <a:t>• Flood Prevention (Stops RM 50k repairs)</a:t>
            </a:r>
          </a:p>
          <a:p>
            <a:pPr>
              <a:spcAft>
                <a:spcPts val="600"/>
              </a:spcAft>
              <a:defRPr sz="1300">
                <a:solidFill>
                  <a:srgbClr val="94A3B8"/>
                </a:solidFill>
              </a:defRPr>
            </a:pPr>
            <a:r>
              <a:t>• Payback Period: Under 48 Hours each month</a:t>
            </a:r>
          </a:p>
        </p:txBody>
      </p:sp>
      <p:sp>
        <p:nvSpPr>
          <p:cNvPr id="6" name="TextBox 5"/>
          <p:cNvSpPr txBox="1"/>
          <p:nvPr/>
        </p:nvSpPr>
        <p:spPr>
          <a:xfrm>
            <a:off x="822960" y="6309360"/>
            <a:ext cx="10515600" cy="365760"/>
          </a:xfrm>
          <a:prstGeom prst="rect">
            <a:avLst/>
          </a:prstGeom>
          <a:noFill/>
        </p:spPr>
        <p:txBody>
          <a:bodyPr wrap="square" lIns="0" tIns="0">
            <a:spAutoFit/>
          </a:bodyPr>
          <a:lstStyle/>
          <a:p>
            <a:pPr>
              <a:defRPr sz="1000">
                <a:solidFill>
                  <a:srgbClr val="94A3B8"/>
                </a:solidFill>
              </a:defRPr>
            </a:pPr>
            <a:r>
              <a:t>TownshipPulse | Sime Darby Property University Hackathon 2026               Slide 5 of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515600" cy="1097280"/>
          </a:xfrm>
          <a:prstGeom prst="rect">
            <a:avLst/>
          </a:prstGeom>
          <a:noFill/>
        </p:spPr>
        <p:txBody>
          <a:bodyPr wrap="square" lIns="0" tIns="0" rIns="0" bIns="0">
            <a:spAutoFit/>
          </a:bodyPr>
          <a:lstStyle/>
          <a:p>
            <a:pPr>
              <a:spcAft>
                <a:spcPts val="400"/>
              </a:spcAft>
              <a:defRPr sz="1100" b="1">
                <a:solidFill>
                  <a:srgbClr val="10B981"/>
                </a:solidFill>
              </a:defRPr>
            </a:pPr>
            <a:r>
              <a:t>BURSA MALAYSIA ESG &amp; PLANET TRACK</a:t>
            </a:r>
          </a:p>
          <a:p>
            <a:pPr>
              <a:defRPr sz="3200" b="1">
                <a:solidFill>
                  <a:srgbClr val="FFFFFF"/>
                </a:solidFill>
              </a:defRPr>
            </a:pPr>
            <a:r>
              <a:t>Measurable Green Impact for Sime Darby</a:t>
            </a:r>
          </a:p>
        </p:txBody>
      </p:sp>
      <p:sp>
        <p:nvSpPr>
          <p:cNvPr id="4" name="Rounded Rectangle 3"/>
          <p:cNvSpPr/>
          <p:nvPr/>
        </p:nvSpPr>
        <p:spPr>
          <a:xfrm>
            <a:off x="822960" y="2011680"/>
            <a:ext cx="3291840" cy="39319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320040" lIns="274320"/>
          <a:lstStyle/>
          <a:p>
            <a:pPr algn="ctr">
              <a:spcAft>
                <a:spcPts val="800"/>
              </a:spcAft>
              <a:defRPr sz="4200" b="1">
                <a:solidFill>
                  <a:srgbClr val="38BDF8"/>
                </a:solidFill>
              </a:defRPr>
            </a:pPr>
            <a:r>
              <a:t>1.2M Liters</a:t>
            </a:r>
          </a:p>
          <a:p>
            <a:pPr>
              <a:spcAft>
                <a:spcPts val="1200"/>
              </a:spcAft>
              <a:defRPr sz="1800" b="1">
                <a:solidFill>
                  <a:srgbClr val="FFFFFF"/>
                </a:solidFill>
              </a:defRPr>
            </a:pPr>
            <a:r>
              <a:t>Clean Water Saved / Yr</a:t>
            </a:r>
          </a:p>
          <a:p>
            <a:pPr>
              <a:defRPr sz="1300">
                <a:solidFill>
                  <a:srgbClr val="94A3B8"/>
                </a:solidFill>
              </a:defRPr>
            </a:pPr>
            <a:r>
              <a:t>Pipe leaks dispatched in 4 hours vs 7 days.</a:t>
            </a:r>
          </a:p>
        </p:txBody>
      </p:sp>
      <p:sp>
        <p:nvSpPr>
          <p:cNvPr id="5" name="Rounded Rectangle 4"/>
          <p:cNvSpPr/>
          <p:nvPr/>
        </p:nvSpPr>
        <p:spPr>
          <a:xfrm>
            <a:off x="4389120" y="2011680"/>
            <a:ext cx="3291840" cy="39319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320040" lIns="274320"/>
          <a:lstStyle/>
          <a:p>
            <a:pPr algn="ctr">
              <a:spcAft>
                <a:spcPts val="800"/>
              </a:spcAft>
              <a:defRPr sz="4200" b="1">
                <a:solidFill>
                  <a:srgbClr val="10B981"/>
                </a:solidFill>
              </a:defRPr>
            </a:pPr>
            <a:r>
              <a:t>240 Trips</a:t>
            </a:r>
          </a:p>
          <a:p>
            <a:pPr>
              <a:spcAft>
                <a:spcPts val="1200"/>
              </a:spcAft>
              <a:defRPr sz="1800" b="1">
                <a:solidFill>
                  <a:srgbClr val="FFFFFF"/>
                </a:solidFill>
              </a:defRPr>
            </a:pPr>
            <a:r>
              <a:t>Car Drives Avoided / Mo</a:t>
            </a:r>
          </a:p>
          <a:p>
            <a:pPr>
              <a:defRPr sz="1300">
                <a:solidFill>
                  <a:srgbClr val="94A3B8"/>
                </a:solidFill>
              </a:defRPr>
            </a:pPr>
            <a:r>
              <a:t>Fewer inspection trips cut vehicle emissions.</a:t>
            </a:r>
          </a:p>
        </p:txBody>
      </p:sp>
      <p:sp>
        <p:nvSpPr>
          <p:cNvPr id="6" name="Rounded Rectangle 5"/>
          <p:cNvSpPr/>
          <p:nvPr/>
        </p:nvSpPr>
        <p:spPr>
          <a:xfrm>
            <a:off x="7955279" y="2011680"/>
            <a:ext cx="3291840" cy="39319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320040" lIns="274320"/>
          <a:lstStyle/>
          <a:p>
            <a:pPr algn="ctr">
              <a:spcAft>
                <a:spcPts val="800"/>
              </a:spcAft>
              <a:defRPr sz="4200" b="1">
                <a:solidFill>
                  <a:srgbClr val="F59E0B"/>
                </a:solidFill>
              </a:defRPr>
            </a:pPr>
            <a:r>
              <a:t>Zero Floods</a:t>
            </a:r>
          </a:p>
          <a:p>
            <a:pPr>
              <a:spcAft>
                <a:spcPts val="1200"/>
              </a:spcAft>
              <a:defRPr sz="1800" b="1">
                <a:solidFill>
                  <a:srgbClr val="FFFFFF"/>
                </a:solidFill>
              </a:defRPr>
            </a:pPr>
            <a:r>
              <a:t>Drainage Resilience</a:t>
            </a:r>
          </a:p>
          <a:p>
            <a:pPr>
              <a:defRPr sz="1300">
                <a:solidFill>
                  <a:srgbClr val="94A3B8"/>
                </a:solidFill>
              </a:defRPr>
            </a:pPr>
            <a:r>
              <a:t>Culverts cleared before monsoon storms hit.</a:t>
            </a:r>
          </a:p>
        </p:txBody>
      </p:sp>
      <p:sp>
        <p:nvSpPr>
          <p:cNvPr id="7" name="TextBox 6"/>
          <p:cNvSpPr txBox="1"/>
          <p:nvPr/>
        </p:nvSpPr>
        <p:spPr>
          <a:xfrm>
            <a:off x="822960" y="6309360"/>
            <a:ext cx="10515600" cy="365760"/>
          </a:xfrm>
          <a:prstGeom prst="rect">
            <a:avLst/>
          </a:prstGeom>
          <a:noFill/>
        </p:spPr>
        <p:txBody>
          <a:bodyPr wrap="square" lIns="0" tIns="0">
            <a:spAutoFit/>
          </a:bodyPr>
          <a:lstStyle/>
          <a:p>
            <a:pPr>
              <a:defRPr sz="1000">
                <a:solidFill>
                  <a:srgbClr val="94A3B8"/>
                </a:solidFill>
              </a:defRPr>
            </a:pPr>
            <a:r>
              <a:t>TownshipPulse | Sime Darby Property University Hackathon 2026               Slide 6 of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515600" cy="1097280"/>
          </a:xfrm>
          <a:prstGeom prst="rect">
            <a:avLst/>
          </a:prstGeom>
          <a:noFill/>
        </p:spPr>
        <p:txBody>
          <a:bodyPr wrap="square" lIns="0" tIns="0" rIns="0" bIns="0">
            <a:spAutoFit/>
          </a:bodyPr>
          <a:lstStyle/>
          <a:p>
            <a:pPr>
              <a:spcAft>
                <a:spcPts val="400"/>
              </a:spcAft>
              <a:defRPr sz="1100" b="1">
                <a:solidFill>
                  <a:srgbClr val="10B981"/>
                </a:solidFill>
              </a:defRPr>
            </a:pPr>
            <a:r>
              <a:t>MULTI-TOWNSHIP SCALE &amp; TEAM</a:t>
            </a:r>
          </a:p>
          <a:p>
            <a:pPr>
              <a:defRPr sz="3200" b="1">
                <a:solidFill>
                  <a:srgbClr val="FFFFFF"/>
                </a:solidFill>
              </a:defRPr>
            </a:pPr>
            <a:r>
              <a:t>Ready to Deploy in City of Elmina &amp; Bukit Raja</a:t>
            </a:r>
          </a:p>
        </p:txBody>
      </p:sp>
      <p:sp>
        <p:nvSpPr>
          <p:cNvPr id="4" name="Rounded Rectangle 3"/>
          <p:cNvSpPr/>
          <p:nvPr/>
        </p:nvSpPr>
        <p:spPr>
          <a:xfrm>
            <a:off x="822960" y="2011680"/>
            <a:ext cx="10515600" cy="9601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164592" lIns="274320"/>
          <a:lstStyle/>
          <a:p>
            <a:pPr algn="ctr">
              <a:spcAft>
                <a:spcPts val="200"/>
              </a:spcAft>
              <a:defRPr sz="1700" b="1">
                <a:solidFill>
                  <a:srgbClr val="10B981"/>
                </a:solidFill>
              </a:defRPr>
            </a:pPr>
            <a:r>
              <a:t>Months 1–2: Digital Asset Mapping</a:t>
            </a:r>
          </a:p>
          <a:p>
            <a:pPr>
              <a:defRPr sz="1200">
                <a:solidFill>
                  <a:srgbClr val="94A3B8"/>
                </a:solidFill>
              </a:defRPr>
            </a:pPr>
            <a:r>
              <a:t>Map drains, streetlights, and culverts in Elmina Valley &amp; Green.</a:t>
            </a:r>
          </a:p>
        </p:txBody>
      </p:sp>
      <p:sp>
        <p:nvSpPr>
          <p:cNvPr id="5" name="Rounded Rectangle 4"/>
          <p:cNvSpPr/>
          <p:nvPr/>
        </p:nvSpPr>
        <p:spPr>
          <a:xfrm>
            <a:off x="822960" y="3154680"/>
            <a:ext cx="10515600" cy="9601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164592" lIns="274320"/>
          <a:lstStyle/>
          <a:p>
            <a:pPr algn="ctr">
              <a:spcAft>
                <a:spcPts val="200"/>
              </a:spcAft>
              <a:defRPr sz="1700" b="1">
                <a:solidFill>
                  <a:srgbClr val="10B981"/>
                </a:solidFill>
              </a:defRPr>
            </a:pPr>
            <a:r>
              <a:t>Months 3–4: 1,000-Home Pilot</a:t>
            </a:r>
          </a:p>
          <a:p>
            <a:pPr>
              <a:defRPr sz="1200">
                <a:solidFill>
                  <a:srgbClr val="94A3B8"/>
                </a:solidFill>
              </a:defRPr>
            </a:pPr>
            <a:r>
              <a:t>Live WhatsApp &amp; Web pilot with local JMB and repair contractors.</a:t>
            </a:r>
          </a:p>
        </p:txBody>
      </p:sp>
      <p:sp>
        <p:nvSpPr>
          <p:cNvPr id="6" name="Rounded Rectangle 5"/>
          <p:cNvSpPr/>
          <p:nvPr/>
        </p:nvSpPr>
        <p:spPr>
          <a:xfrm>
            <a:off x="822960" y="4297680"/>
            <a:ext cx="10515600" cy="960120"/>
          </a:xfrm>
          <a:prstGeom prst="roundRect">
            <a:avLst/>
          </a:prstGeom>
          <a:solidFill>
            <a:srgbClr val="12192B"/>
          </a:solidFill>
          <a:ln>
            <a:solidFill>
              <a:srgbClr val="222E4A"/>
            </a:solidFill>
          </a:ln>
        </p:spPr>
        <p:style>
          <a:lnRef idx="1">
            <a:schemeClr val="accent1"/>
          </a:lnRef>
          <a:fillRef idx="3">
            <a:schemeClr val="accent1"/>
          </a:fillRef>
          <a:effectRef idx="2">
            <a:schemeClr val="accent1"/>
          </a:effectRef>
          <a:fontRef idx="minor">
            <a:schemeClr val="lt1"/>
          </a:fontRef>
        </p:style>
        <p:txBody>
          <a:bodyPr rtlCol="0" anchor="ctr" tIns="164592" lIns="274320"/>
          <a:lstStyle/>
          <a:p>
            <a:pPr algn="ctr">
              <a:spcAft>
                <a:spcPts val="200"/>
              </a:spcAft>
              <a:defRPr sz="1700" b="1">
                <a:solidFill>
                  <a:srgbClr val="10B981"/>
                </a:solidFill>
              </a:defRPr>
            </a:pPr>
            <a:r>
              <a:t>Months 5–6: Scale to Bandar Bukit Raja</a:t>
            </a:r>
          </a:p>
          <a:p>
            <a:pPr>
              <a:defRPr sz="1200">
                <a:solidFill>
                  <a:srgbClr val="94A3B8"/>
                </a:solidFill>
              </a:defRPr>
            </a:pPr>
            <a:r>
              <a:t>Rollout to Klang logistics hub and commercial industrial parks.</a:t>
            </a:r>
          </a:p>
        </p:txBody>
      </p:sp>
      <p:sp>
        <p:nvSpPr>
          <p:cNvPr id="7" name="Rounded Rectangle 6"/>
          <p:cNvSpPr/>
          <p:nvPr/>
        </p:nvSpPr>
        <p:spPr>
          <a:xfrm>
            <a:off x="822960" y="5394960"/>
            <a:ext cx="10515600" cy="822960"/>
          </a:xfrm>
          <a:prstGeom prst="roundRect">
            <a:avLst/>
          </a:prstGeom>
          <a:solidFill>
            <a:srgbClr val="12192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tIns="182880" lIns="274320"/>
          <a:lstStyle/>
          <a:p>
            <a:pPr algn="ctr">
              <a:defRPr sz="1400" b="1">
                <a:solidFill>
                  <a:srgbClr val="FFFFFF"/>
                </a:solidFill>
              </a:defRPr>
            </a:pPr>
            <a:r>
              <a:t>Team: Ghulam Mustafa &amp; Team  |  "From slow paperwork to self-healing townships."</a:t>
            </a:r>
          </a:p>
        </p:txBody>
      </p:sp>
      <p:sp>
        <p:nvSpPr>
          <p:cNvPr id="8" name="TextBox 7"/>
          <p:cNvSpPr txBox="1"/>
          <p:nvPr/>
        </p:nvSpPr>
        <p:spPr>
          <a:xfrm>
            <a:off x="822960" y="6309360"/>
            <a:ext cx="10515600" cy="365760"/>
          </a:xfrm>
          <a:prstGeom prst="rect">
            <a:avLst/>
          </a:prstGeom>
          <a:noFill/>
        </p:spPr>
        <p:txBody>
          <a:bodyPr wrap="square" lIns="0" tIns="0">
            <a:spAutoFit/>
          </a:bodyPr>
          <a:lstStyle/>
          <a:p>
            <a:pPr>
              <a:defRPr sz="1000">
                <a:solidFill>
                  <a:srgbClr val="94A3B8"/>
                </a:solidFill>
              </a:defRPr>
            </a:pPr>
            <a:r>
              <a:t>TownshipPulse | Sime Darby Property University Hackathon 2026               Slide 7 of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